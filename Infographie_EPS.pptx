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A9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Mignot" userId="a54f5c2ee81a9a1c" providerId="LiveId" clId="{3E641B0F-4DEF-4551-A312-659BEE7E3679}"/>
    <pc:docChg chg="undo custSel modSld">
      <pc:chgData name="Florian Mignot" userId="a54f5c2ee81a9a1c" providerId="LiveId" clId="{3E641B0F-4DEF-4551-A312-659BEE7E3679}" dt="2026-07-09T07:37:36.085" v="132" actId="207"/>
      <pc:docMkLst>
        <pc:docMk/>
      </pc:docMkLst>
      <pc:sldChg chg="addSp modSp mod">
        <pc:chgData name="Florian Mignot" userId="a54f5c2ee81a9a1c" providerId="LiveId" clId="{3E641B0F-4DEF-4551-A312-659BEE7E3679}" dt="2026-07-09T07:37:36.085" v="132" actId="207"/>
        <pc:sldMkLst>
          <pc:docMk/>
          <pc:sldMk cId="29977523" sldId="256"/>
        </pc:sldMkLst>
        <pc:spChg chg="mod">
          <ac:chgData name="Florian Mignot" userId="a54f5c2ee81a9a1c" providerId="LiveId" clId="{3E641B0F-4DEF-4551-A312-659BEE7E3679}" dt="2026-07-09T07:33:15.256" v="106" actId="1076"/>
          <ac:spMkLst>
            <pc:docMk/>
            <pc:sldMk cId="29977523" sldId="256"/>
            <ac:spMk id="5" creationId="{5442BA74-0B41-A895-1883-B91F2FD33939}"/>
          </ac:spMkLst>
        </pc:spChg>
        <pc:spChg chg="mod">
          <ac:chgData name="Florian Mignot" userId="a54f5c2ee81a9a1c" providerId="LiveId" clId="{3E641B0F-4DEF-4551-A312-659BEE7E3679}" dt="2026-07-09T07:34:10.121" v="123" actId="1076"/>
          <ac:spMkLst>
            <pc:docMk/>
            <pc:sldMk cId="29977523" sldId="256"/>
            <ac:spMk id="7" creationId="{C42B00D7-7734-832D-B3A6-69076AE44E37}"/>
          </ac:spMkLst>
        </pc:spChg>
        <pc:spChg chg="mod">
          <ac:chgData name="Florian Mignot" userId="a54f5c2ee81a9a1c" providerId="LiveId" clId="{3E641B0F-4DEF-4551-A312-659BEE7E3679}" dt="2026-07-09T07:30:50.079" v="85" actId="207"/>
          <ac:spMkLst>
            <pc:docMk/>
            <pc:sldMk cId="29977523" sldId="256"/>
            <ac:spMk id="15" creationId="{8F4E5B69-D08B-248F-BEDA-9BEE8B8D3CDF}"/>
          </ac:spMkLst>
        </pc:spChg>
        <pc:spChg chg="mod">
          <ac:chgData name="Florian Mignot" userId="a54f5c2ee81a9a1c" providerId="LiveId" clId="{3E641B0F-4DEF-4551-A312-659BEE7E3679}" dt="2026-07-09T07:17:28.602" v="44" actId="20577"/>
          <ac:spMkLst>
            <pc:docMk/>
            <pc:sldMk cId="29977523" sldId="256"/>
            <ac:spMk id="21" creationId="{62CB3ABE-3C76-4136-634A-CDAB22A29693}"/>
          </ac:spMkLst>
        </pc:spChg>
        <pc:picChg chg="add mod">
          <ac:chgData name="Florian Mignot" userId="a54f5c2ee81a9a1c" providerId="LiveId" clId="{3E641B0F-4DEF-4551-A312-659BEE7E3679}" dt="2026-07-09T07:29:16.772" v="84" actId="207"/>
          <ac:picMkLst>
            <pc:docMk/>
            <pc:sldMk cId="29977523" sldId="256"/>
            <ac:picMk id="24" creationId="{B0A5A9E2-6F4A-8F31-C4EA-F55B66D10BA0}"/>
          </ac:picMkLst>
        </pc:picChg>
        <pc:picChg chg="add mod">
          <ac:chgData name="Florian Mignot" userId="a54f5c2ee81a9a1c" providerId="LiveId" clId="{3E641B0F-4DEF-4551-A312-659BEE7E3679}" dt="2026-07-09T07:29:16.772" v="84" actId="207"/>
          <ac:picMkLst>
            <pc:docMk/>
            <pc:sldMk cId="29977523" sldId="256"/>
            <ac:picMk id="26" creationId="{9767BC01-EFC8-80A5-9B4C-1AD4E046D15F}"/>
          </ac:picMkLst>
        </pc:picChg>
        <pc:picChg chg="add mod">
          <ac:chgData name="Florian Mignot" userId="a54f5c2ee81a9a1c" providerId="LiveId" clId="{3E641B0F-4DEF-4551-A312-659BEE7E3679}" dt="2026-07-09T07:27:40.716" v="82" actId="207"/>
          <ac:picMkLst>
            <pc:docMk/>
            <pc:sldMk cId="29977523" sldId="256"/>
            <ac:picMk id="28" creationId="{B755ECDF-22E7-BDD9-C86E-AB54E2D38294}"/>
          </ac:picMkLst>
        </pc:picChg>
        <pc:picChg chg="add mod">
          <ac:chgData name="Florian Mignot" userId="a54f5c2ee81a9a1c" providerId="LiveId" clId="{3E641B0F-4DEF-4551-A312-659BEE7E3679}" dt="2026-07-09T07:29:16.772" v="84" actId="207"/>
          <ac:picMkLst>
            <pc:docMk/>
            <pc:sldMk cId="29977523" sldId="256"/>
            <ac:picMk id="30" creationId="{D524D31D-C179-7F13-F79C-F82B056DF055}"/>
          </ac:picMkLst>
        </pc:picChg>
        <pc:picChg chg="add mod">
          <ac:chgData name="Florian Mignot" userId="a54f5c2ee81a9a1c" providerId="LiveId" clId="{3E641B0F-4DEF-4551-A312-659BEE7E3679}" dt="2026-07-09T07:29:16.772" v="84" actId="207"/>
          <ac:picMkLst>
            <pc:docMk/>
            <pc:sldMk cId="29977523" sldId="256"/>
            <ac:picMk id="32" creationId="{EE438D76-45D3-E9B3-A84D-B0E70021FEC8}"/>
          </ac:picMkLst>
        </pc:picChg>
        <pc:picChg chg="add mod">
          <ac:chgData name="Florian Mignot" userId="a54f5c2ee81a9a1c" providerId="LiveId" clId="{3E641B0F-4DEF-4551-A312-659BEE7E3679}" dt="2026-07-09T07:37:36.085" v="132" actId="207"/>
          <ac:picMkLst>
            <pc:docMk/>
            <pc:sldMk cId="29977523" sldId="256"/>
            <ac:picMk id="34" creationId="{92C38AF1-ADF0-B766-754E-C5D6780D1B57}"/>
          </ac:picMkLst>
        </pc:picChg>
        <pc:picChg chg="add mod">
          <ac:chgData name="Florian Mignot" userId="a54f5c2ee81a9a1c" providerId="LiveId" clId="{3E641B0F-4DEF-4551-A312-659BEE7E3679}" dt="2026-07-09T07:37:36.085" v="132" actId="207"/>
          <ac:picMkLst>
            <pc:docMk/>
            <pc:sldMk cId="29977523" sldId="256"/>
            <ac:picMk id="36" creationId="{8A0D7EC5-13F5-E2A7-97CE-E9D91BC3A48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A52F8-9E40-4B68-A209-BB9BD35BFB46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EFB18-E670-41EB-B21F-3BA62C56CD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07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EFB18-E670-41EB-B21F-3BA62C56CDD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631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BAD856-846F-8F85-6F05-D82F3375E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F8F763-347A-BF63-9B14-BE6144B5F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6BE671-0FF9-B812-5E61-78DAA324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BF3169-2207-80A9-BA6A-0F5E8BF5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5C882D-D671-C9F2-2451-86228A24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20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98CCC1-8FCF-697F-5704-66C2FDC0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022EB4-09F5-1A63-8F05-8A81CED3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51F905-E27D-9ADA-825E-90E4C014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09FFB1-BA8F-A6DC-5867-366443E1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5B854D-77D7-010C-DE0D-97320DCC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88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50893-60D2-2632-CE61-D70485B1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6CC088-4E8A-B986-2CFB-9B19B12C2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36143-F5C6-89E3-EA97-CFCF1465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3A2F34-1C2F-14B4-7208-019D052A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6D2B1F-615E-5CB9-9705-264E372A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25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B3D2F8-4697-E630-30B1-287AB03F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2F3216-283E-5D63-0D2D-0D6E87A9E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D5428E-332D-3645-7E76-6FCC17CFD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14ADDA-610E-B0A4-1075-8431DB24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A7E040-599E-AD17-BA3D-00D1A4CC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0B3171-904D-CC87-88A7-5BF0B589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215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59AEFA-0076-2511-30D1-A695BFDCF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C26051-3596-8175-31AF-5A7395CDB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8A07C0-55EE-7FB9-C901-E13F30BC4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5CDA996-EF9F-F1DE-733C-659AEA0E3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52A07F4-D1FE-F4B7-7875-331CBEF05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4CCF44D-A175-D1D2-78B1-5E1CC92C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B1AA71-BDD5-B9F5-3905-13C6DFDB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089007-6593-85C2-B529-7626AB5E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8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124DA1-0AAF-19BA-0A4D-65FE88FC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64914A-E8D0-F597-3FBA-339CB5C4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3F1623-A9BF-2723-229C-D0F9C60B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A3569E-7193-BC3C-0052-253A59B1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5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5EE46FD-6D62-63BB-F61A-23199C6D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69BAFD-F946-6B6A-40B0-71E084C7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F24973-3121-DCEB-D0E9-1D368DF9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94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143DB-BEE2-0A1E-9BA6-840145A02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017105-A6E2-AC38-3F38-52D74E818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E976B5-0851-8F0C-B2EC-AB1830A81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E3EB58-D848-0ED0-7026-4FBC4275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3A0CFC-3728-066D-9724-A3A80537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20CE8D-9CC1-6ED8-1BCC-5DB131D0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79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3B450F-2F93-2403-CA70-838F8C44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4F8B255-CBB2-0D4D-485E-D5686E86D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50CDF6-1BE9-FECB-D187-4C910E788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8D534F-4DA2-23D1-0FAC-62E6601B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3FE354-0869-E621-523D-4923518E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79E6F0-0F6E-04D9-8A9A-BED0362D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30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D983D-9284-2BC3-5AE4-2A5F4897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7FBB4E-9412-1E39-6AF4-B8C3FDAEC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07B4F9-A081-AC2B-E645-10493689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E57286-3AEE-627C-E051-0E4A9D76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AF4C2B-510F-2839-3799-BC29C9A0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578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D1C911D-A9F5-9752-122B-0B6C96AFC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6B3924-E561-B80F-8221-E8E97F4C1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9767FF-1D76-BE8F-E731-3793845F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B383F1-CA8B-409F-E1BE-62BE9417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19D133-97AF-DAC3-BA40-E658B1AA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4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A44C048-64E2-AB5B-4AF3-D0AB9529D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D8468F-C2EB-25ED-3A66-D5CE94C45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454FDF-8099-0BC4-3B56-5397F0FAD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1EACA-8245-45C2-92B5-C734B8732398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D5C325-383D-FD65-6585-A10A3EAE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AB9DC-B772-3F32-DD55-10C408416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408D1-EDAC-4BED-BAC0-D1592D7E5B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08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6.svg"/><Relationship Id="rId7" Type="http://schemas.openxmlformats.org/officeDocument/2006/relationships/image" Target="../media/image1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7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442BA74-0B41-A895-1883-B91F2FD3393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/>
              <a:t>Vestiaire – Calme · Respect · Organisation</a:t>
            </a:r>
            <a:endParaRPr lang="fr-FR" sz="40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B00D7-7734-832D-B3A6-69076AE44E37}"/>
              </a:ext>
            </a:extLst>
          </p:cNvPr>
          <p:cNvSpPr/>
          <p:nvPr/>
        </p:nvSpPr>
        <p:spPr>
          <a:xfrm>
            <a:off x="0" y="766369"/>
            <a:ext cx="12192000" cy="646331"/>
          </a:xfrm>
          <a:prstGeom prst="rect">
            <a:avLst/>
          </a:prstGeom>
          <a:solidFill>
            <a:schemeClr val="bg1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002060"/>
                </a:solidFill>
              </a:rPr>
              <a:t>Se changer </a:t>
            </a:r>
            <a:r>
              <a:rPr lang="fr-FR" sz="2000" b="1" u="sng" dirty="0">
                <a:solidFill>
                  <a:srgbClr val="002060"/>
                </a:solidFill>
              </a:rPr>
              <a:t>calmement</a:t>
            </a:r>
            <a:r>
              <a:rPr lang="fr-FR" sz="2000" b="1" dirty="0">
                <a:solidFill>
                  <a:srgbClr val="002060"/>
                </a:solidFill>
              </a:rPr>
              <a:t>, </a:t>
            </a:r>
            <a:r>
              <a:rPr lang="fr-FR" sz="2000" b="1" u="sng" dirty="0">
                <a:solidFill>
                  <a:srgbClr val="002060"/>
                </a:solidFill>
              </a:rPr>
              <a:t>rapidement</a:t>
            </a:r>
            <a:r>
              <a:rPr lang="fr-FR" sz="2000" b="1" dirty="0">
                <a:solidFill>
                  <a:srgbClr val="002060"/>
                </a:solidFill>
              </a:rPr>
              <a:t> et dans le </a:t>
            </a:r>
            <a:r>
              <a:rPr lang="fr-FR" sz="2000" b="1" u="sng" dirty="0">
                <a:solidFill>
                  <a:srgbClr val="002060"/>
                </a:solidFill>
              </a:rPr>
              <a:t>respect</a:t>
            </a:r>
            <a:r>
              <a:rPr lang="fr-FR" sz="2000" b="1" dirty="0">
                <a:solidFill>
                  <a:srgbClr val="002060"/>
                </a:solidFill>
              </a:rPr>
              <a:t>, pour commencer la séance en sécurité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2C5021-B44C-C562-DCFE-2A0169F82EB9}"/>
              </a:ext>
            </a:extLst>
          </p:cNvPr>
          <p:cNvSpPr/>
          <p:nvPr/>
        </p:nvSpPr>
        <p:spPr>
          <a:xfrm>
            <a:off x="95480" y="1618796"/>
            <a:ext cx="4536000" cy="1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Règle 1 – Calme</a:t>
            </a:r>
          </a:p>
          <a:p>
            <a:pPr algn="ctr"/>
            <a:endParaRPr lang="fr-FR" sz="1400" b="1" dirty="0">
              <a:solidFill>
                <a:srgbClr val="0033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entre calmement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ne court pas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ne crie pas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ne pousse pas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dirty="0">
              <a:solidFill>
                <a:srgbClr val="333333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718459-FB1D-2441-E731-C12E8B219521}"/>
              </a:ext>
            </a:extLst>
          </p:cNvPr>
          <p:cNvSpPr/>
          <p:nvPr/>
        </p:nvSpPr>
        <p:spPr>
          <a:xfrm>
            <a:off x="95480" y="4022019"/>
            <a:ext cx="4536000" cy="1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Règle 3 – Organisation</a:t>
            </a:r>
          </a:p>
          <a:p>
            <a:pPr algn="ctr"/>
            <a:endParaRPr lang="fr-FR" sz="1400" b="1" dirty="0">
              <a:solidFill>
                <a:srgbClr val="00206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Sac posé à un endroit précis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Affaires rangées dans le sac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se change rapidement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sort dès qu’on est prêt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4E5B69-D08B-248F-BEDA-9BEE8B8D3CDF}"/>
              </a:ext>
            </a:extLst>
          </p:cNvPr>
          <p:cNvSpPr/>
          <p:nvPr/>
        </p:nvSpPr>
        <p:spPr>
          <a:xfrm>
            <a:off x="4937039" y="1618796"/>
            <a:ext cx="4536000" cy="1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Règles 2 – Respect</a:t>
            </a:r>
          </a:p>
          <a:p>
            <a:pPr algn="ctr"/>
            <a:endParaRPr lang="fr-FR" sz="1400" b="1" dirty="0">
              <a:solidFill>
                <a:srgbClr val="0033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respecte l’intimité de chacun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ne touche pas aux affaires des autres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ne jette à rien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signale tout problème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DB041-1F9B-F35F-4A59-25F4B2D3195D}"/>
              </a:ext>
            </a:extLst>
          </p:cNvPr>
          <p:cNvSpPr/>
          <p:nvPr/>
        </p:nvSpPr>
        <p:spPr>
          <a:xfrm>
            <a:off x="4937039" y="4022019"/>
            <a:ext cx="4536000" cy="1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Règle 4 – Sécurité</a:t>
            </a:r>
          </a:p>
          <a:p>
            <a:pPr algn="ctr"/>
            <a:endParaRPr lang="fr-FR" sz="1400" b="1" dirty="0">
              <a:solidFill>
                <a:srgbClr val="0033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Pas de jeux dans le vestiaire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Pas d’objets au sol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Pas de bousculades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33333"/>
                </a:solidFill>
              </a:rPr>
              <a:t>On respecte les consignes de l’enseignant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CB3ABE-3C76-4136-634A-CDAB22A29693}"/>
              </a:ext>
            </a:extLst>
          </p:cNvPr>
          <p:cNvSpPr/>
          <p:nvPr/>
        </p:nvSpPr>
        <p:spPr>
          <a:xfrm>
            <a:off x="9683118" y="1512834"/>
            <a:ext cx="2413402" cy="4716000"/>
          </a:xfrm>
          <a:prstGeom prst="rect">
            <a:avLst/>
          </a:prstGeom>
          <a:solidFill>
            <a:srgbClr val="4A90E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À retenir</a:t>
            </a:r>
          </a:p>
          <a:p>
            <a:pPr algn="ctr"/>
            <a:endParaRPr lang="fr-FR" b="1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400" b="1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bg1"/>
                </a:solidFill>
              </a:rPr>
              <a:t>Vestiaires = calme + respect + organisation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600" b="1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bg1"/>
                </a:solidFill>
              </a:rPr>
              <a:t>Tes affaires restent dans ton sac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600" b="1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bg1"/>
                </a:solidFill>
              </a:rPr>
              <a:t>Un vestiaire bien géré = une séance qui commence bien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2" name="Espace réservé du pied de page 21">
            <a:extLst>
              <a:ext uri="{FF2B5EF4-FFF2-40B4-BE49-F238E27FC236}">
                <a16:creationId xmlns:a16="http://schemas.microsoft.com/office/drawing/2014/main" id="{3B1E6681-D748-1133-D115-C0E6C3D4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EPS de Mignot  – Collège : Règles des vestiaires</a:t>
            </a:r>
          </a:p>
        </p:txBody>
      </p:sp>
      <p:pic>
        <p:nvPicPr>
          <p:cNvPr id="24" name="Graphique 23" descr="Poignée de main avec un remplissage uni">
            <a:extLst>
              <a:ext uri="{FF2B5EF4-FFF2-40B4-BE49-F238E27FC236}">
                <a16:creationId xmlns:a16="http://schemas.microsoft.com/office/drawing/2014/main" id="{B0A5A9E2-6F4A-8F31-C4EA-F55B66D10B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039" y="1614630"/>
            <a:ext cx="540000" cy="540000"/>
          </a:xfrm>
          <a:prstGeom prst="rect">
            <a:avLst/>
          </a:prstGeom>
        </p:spPr>
      </p:pic>
      <p:pic>
        <p:nvPicPr>
          <p:cNvPr id="26" name="Graphique 25" descr="Verrou avec un remplissage uni">
            <a:extLst>
              <a:ext uri="{FF2B5EF4-FFF2-40B4-BE49-F238E27FC236}">
                <a16:creationId xmlns:a16="http://schemas.microsoft.com/office/drawing/2014/main" id="{9767BC01-EFC8-80A5-9B4C-1AD4E046D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039" y="4022019"/>
            <a:ext cx="540000" cy="540000"/>
          </a:xfrm>
          <a:prstGeom prst="rect">
            <a:avLst/>
          </a:prstGeom>
        </p:spPr>
      </p:pic>
      <p:pic>
        <p:nvPicPr>
          <p:cNvPr id="28" name="Graphique 27" descr="Ampoule et engrenage avec un remplissage uni">
            <a:extLst>
              <a:ext uri="{FF2B5EF4-FFF2-40B4-BE49-F238E27FC236}">
                <a16:creationId xmlns:a16="http://schemas.microsoft.com/office/drawing/2014/main" id="{B755ECDF-22E7-BDD9-C86E-AB54E2D38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3118" y="1542058"/>
            <a:ext cx="540000" cy="540000"/>
          </a:xfrm>
          <a:prstGeom prst="rect">
            <a:avLst/>
          </a:prstGeom>
        </p:spPr>
      </p:pic>
      <p:pic>
        <p:nvPicPr>
          <p:cNvPr id="30" name="Graphique 29" descr="Main ouverte avec une plante avec un remplissage uni">
            <a:extLst>
              <a:ext uri="{FF2B5EF4-FFF2-40B4-BE49-F238E27FC236}">
                <a16:creationId xmlns:a16="http://schemas.microsoft.com/office/drawing/2014/main" id="{D524D31D-C179-7F13-F79C-F82B056DF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80" y="1639288"/>
            <a:ext cx="540000" cy="540000"/>
          </a:xfrm>
          <a:prstGeom prst="rect">
            <a:avLst/>
          </a:prstGeom>
        </p:spPr>
      </p:pic>
      <p:pic>
        <p:nvPicPr>
          <p:cNvPr id="32" name="Graphique 31" descr="Liste avec un remplissage uni">
            <a:extLst>
              <a:ext uri="{FF2B5EF4-FFF2-40B4-BE49-F238E27FC236}">
                <a16:creationId xmlns:a16="http://schemas.microsoft.com/office/drawing/2014/main" id="{EE438D76-45D3-E9B3-A84D-B0E70021FE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80" y="4022019"/>
            <a:ext cx="540000" cy="540000"/>
          </a:xfrm>
          <a:prstGeom prst="rect">
            <a:avLst/>
          </a:prstGeom>
        </p:spPr>
      </p:pic>
      <p:pic>
        <p:nvPicPr>
          <p:cNvPr id="34" name="Graphique 33" descr="Cible avec un remplissage uni">
            <a:extLst>
              <a:ext uri="{FF2B5EF4-FFF2-40B4-BE49-F238E27FC236}">
                <a16:creationId xmlns:a16="http://schemas.microsoft.com/office/drawing/2014/main" id="{92C38AF1-ADF0-B766-754E-C5D6780D1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17165"/>
            <a:ext cx="612000" cy="612000"/>
          </a:xfrm>
          <a:prstGeom prst="rect">
            <a:avLst/>
          </a:prstGeom>
        </p:spPr>
      </p:pic>
      <p:pic>
        <p:nvPicPr>
          <p:cNvPr id="36" name="Graphique 35" descr="Mille avec un remplissage uni">
            <a:extLst>
              <a:ext uri="{FF2B5EF4-FFF2-40B4-BE49-F238E27FC236}">
                <a16:creationId xmlns:a16="http://schemas.microsoft.com/office/drawing/2014/main" id="{8A0D7EC5-13F5-E2A7-97CE-E9D91BC3A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781966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18124-05B5-DFDB-4684-D5AFE17F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F1313D8-8AFA-60E6-824B-8AE536D6B9E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Les principes de l’échauffement – Préparer ton corps et éviter les blessures</a:t>
            </a:r>
            <a:endParaRPr lang="fr-FR" sz="32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D54A8-19BA-28EE-B678-AAC92D781C2B}"/>
              </a:ext>
            </a:extLst>
          </p:cNvPr>
          <p:cNvSpPr/>
          <p:nvPr/>
        </p:nvSpPr>
        <p:spPr>
          <a:xfrm>
            <a:off x="0" y="629166"/>
            <a:ext cx="12192000" cy="646331"/>
          </a:xfrm>
          <a:prstGeom prst="rect">
            <a:avLst/>
          </a:prstGeom>
          <a:solidFill>
            <a:schemeClr val="bg1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2000" b="1" dirty="0">
              <a:solidFill>
                <a:srgbClr val="00206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D61DA-CCF1-862E-7765-4351DD90A83F}"/>
              </a:ext>
            </a:extLst>
          </p:cNvPr>
          <p:cNvSpPr/>
          <p:nvPr/>
        </p:nvSpPr>
        <p:spPr>
          <a:xfrm>
            <a:off x="95480" y="1343961"/>
            <a:ext cx="4572000" cy="15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Pourquoi s’échauffer</a:t>
            </a:r>
          </a:p>
          <a:p>
            <a:pPr algn="ctr"/>
            <a:endParaRPr lang="fr-FR" sz="1400" b="1" dirty="0">
              <a:solidFill>
                <a:srgbClr val="0033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Pour augmenter progressivement la température du corps.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Pour préparer tes muscles, tes articulations et ton cœur.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Pour éviter les blessures.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Pour être plus performant dès le début de l’activité?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3333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dirty="0">
              <a:solidFill>
                <a:srgbClr val="333333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D26A45-238C-72BF-943A-28D9512F1485}"/>
              </a:ext>
            </a:extLst>
          </p:cNvPr>
          <p:cNvSpPr/>
          <p:nvPr/>
        </p:nvSpPr>
        <p:spPr>
          <a:xfrm>
            <a:off x="95480" y="3095923"/>
            <a:ext cx="4572000" cy="15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Les 3 phases de l’échauffement </a:t>
            </a:r>
          </a:p>
          <a:p>
            <a:pPr algn="ctr"/>
            <a:endParaRPr lang="fr-FR" sz="1400" b="1" dirty="0">
              <a:solidFill>
                <a:srgbClr val="00206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333333"/>
                </a:solidFill>
              </a:rPr>
              <a:t>Phase générale :</a:t>
            </a:r>
            <a:r>
              <a:rPr lang="fr-FR" sz="1200" dirty="0">
                <a:solidFill>
                  <a:srgbClr val="333333"/>
                </a:solidFill>
              </a:rPr>
              <a:t> course légère, mobilisation articulaire.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333333"/>
                </a:solidFill>
              </a:rPr>
              <a:t>Phase musculaire</a:t>
            </a:r>
            <a:r>
              <a:rPr lang="fr-FR" sz="1200" dirty="0">
                <a:solidFill>
                  <a:srgbClr val="333333"/>
                </a:solidFill>
              </a:rPr>
              <a:t> </a:t>
            </a:r>
            <a:r>
              <a:rPr lang="fr-FR" sz="1200" b="1" dirty="0">
                <a:solidFill>
                  <a:srgbClr val="333333"/>
                </a:solidFill>
              </a:rPr>
              <a:t>:</a:t>
            </a:r>
            <a:r>
              <a:rPr lang="fr-FR" sz="1200" dirty="0">
                <a:solidFill>
                  <a:srgbClr val="333333"/>
                </a:solidFill>
              </a:rPr>
              <a:t> exercices dynamiques (montées de genoux, talons-fesses …).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333333"/>
                </a:solidFill>
              </a:rPr>
              <a:t>Phase spécifique :</a:t>
            </a:r>
            <a:r>
              <a:rPr lang="fr-FR" sz="1200" dirty="0">
                <a:solidFill>
                  <a:srgbClr val="333333"/>
                </a:solidFill>
              </a:rPr>
              <a:t> gestes proches de l’activité (frappes en badminton, passes en hand, foulées en course …).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73BA06-ADC6-733B-B93A-FEA74937513B}"/>
              </a:ext>
            </a:extLst>
          </p:cNvPr>
          <p:cNvSpPr/>
          <p:nvPr/>
        </p:nvSpPr>
        <p:spPr>
          <a:xfrm>
            <a:off x="95480" y="4847886"/>
            <a:ext cx="4572000" cy="15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002060"/>
                </a:solidFill>
              </a:rPr>
              <a:t>Comment savoir si ton échauffement est réussi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 b="1" dirty="0">
              <a:solidFill>
                <a:srgbClr val="003366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rgbClr val="333333"/>
                </a:solidFill>
              </a:rPr>
              <a:t>Tu sens ton corps « chaud », prêt à bouger.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rgbClr val="333333"/>
                </a:solidFill>
              </a:rPr>
              <a:t>Tu respires plus vite mais tu es encore à l’aise.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rgbClr val="333333"/>
                </a:solidFill>
              </a:rPr>
              <a:t>Tes articulations sont plus souples.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rgbClr val="333333"/>
                </a:solidFill>
              </a:rPr>
              <a:t>Tu te sens concentré et prêt à commencer.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rgbClr val="333333"/>
                </a:solidFill>
              </a:rPr>
              <a:t>Tu connais les gestes techniques que tu vas utiliser ensuite.</a:t>
            </a:r>
          </a:p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5BB362-D184-8969-7D8E-6C3BCF69911E}"/>
              </a:ext>
            </a:extLst>
          </p:cNvPr>
          <p:cNvSpPr/>
          <p:nvPr/>
        </p:nvSpPr>
        <p:spPr>
          <a:xfrm>
            <a:off x="4937039" y="1343961"/>
            <a:ext cx="4572000" cy="15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Principes à respecter</a:t>
            </a:r>
          </a:p>
          <a:p>
            <a:pPr algn="ctr"/>
            <a:endParaRPr lang="fr-FR" sz="1400" b="1" dirty="0">
              <a:solidFill>
                <a:srgbClr val="0033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Commencer doucement, augmenter l’intensité progressivement.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Mobiliser toutes les articulations.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Activer les muscles principaux.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Adapter l’échauffement à l’activité qui arrive.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Ne jamais aller trop vite au début.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400" dirty="0">
              <a:solidFill>
                <a:srgbClr val="333333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5C9972-1DB0-CFE6-8278-AF84D1DBAAD7}"/>
              </a:ext>
            </a:extLst>
          </p:cNvPr>
          <p:cNvSpPr/>
          <p:nvPr/>
        </p:nvSpPr>
        <p:spPr>
          <a:xfrm>
            <a:off x="4937039" y="3095923"/>
            <a:ext cx="4572000" cy="15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Exemples d’exercices</a:t>
            </a:r>
          </a:p>
          <a:p>
            <a:pPr algn="ctr"/>
            <a:endParaRPr lang="fr-FR" sz="1400" b="1" dirty="0">
              <a:solidFill>
                <a:srgbClr val="0033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Course légère 2-3 min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Mobilisation : chevilles, genoux, hanches épaules…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Montées de genoux / tallons-fesses.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Petits sauts / pas chassés.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Gestes techniques liés à l’activité.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933E80-3C9B-C3A4-0960-53E86EE0B3B0}"/>
              </a:ext>
            </a:extLst>
          </p:cNvPr>
          <p:cNvSpPr/>
          <p:nvPr/>
        </p:nvSpPr>
        <p:spPr>
          <a:xfrm>
            <a:off x="4941629" y="4847886"/>
            <a:ext cx="4572000" cy="15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002060"/>
                </a:solidFill>
              </a:rPr>
              <a:t>Erreurs à éviter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 b="1" dirty="0">
              <a:solidFill>
                <a:srgbClr val="0033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Commencer trop vite.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Faire des mouvements brusques à froid.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Sauter la phase générale.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Copier les autres sans comprendre.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33333"/>
                </a:solidFill>
              </a:rPr>
              <a:t>Rester passif ou discuter au lieu de s’échauffer.</a:t>
            </a:r>
            <a:endParaRPr lang="fr-FR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343C67-92C4-178B-BD30-DC8E539C7887}"/>
              </a:ext>
            </a:extLst>
          </p:cNvPr>
          <p:cNvSpPr/>
          <p:nvPr/>
        </p:nvSpPr>
        <p:spPr>
          <a:xfrm>
            <a:off x="9683118" y="1343961"/>
            <a:ext cx="2413402" cy="5015925"/>
          </a:xfrm>
          <a:prstGeom prst="rect">
            <a:avLst/>
          </a:prstGeom>
          <a:solidFill>
            <a:srgbClr val="4A90E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À retenir</a:t>
            </a:r>
          </a:p>
          <a:p>
            <a:pPr algn="ctr"/>
            <a:endParaRPr lang="fr-FR" b="1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400" b="1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Un bon échauffement = moins de blessures.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Toujours commencer doucement.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Toujours finir par des gestes proches de l’activité.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L’échauffement prépare ton corps </a:t>
            </a:r>
            <a:r>
              <a:rPr lang="fr-FR" sz="1400" b="1" dirty="0">
                <a:solidFill>
                  <a:schemeClr val="bg1"/>
                </a:solidFill>
              </a:rPr>
              <a:t>ET</a:t>
            </a:r>
            <a:r>
              <a:rPr lang="fr-FR" sz="1400" dirty="0">
                <a:solidFill>
                  <a:schemeClr val="bg1"/>
                </a:solidFill>
              </a:rPr>
              <a:t> ton esprit.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400" u="sng" dirty="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Bien s’échauffer = mieux performer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Espace réservé du pied de page 21">
            <a:extLst>
              <a:ext uri="{FF2B5EF4-FFF2-40B4-BE49-F238E27FC236}">
                <a16:creationId xmlns:a16="http://schemas.microsoft.com/office/drawing/2014/main" id="{4397EC5E-E0F0-F3BA-FC08-E388C3BC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FR" dirty="0"/>
              <a:t>EPS de Mignot  – Collège : L’échauffement</a:t>
            </a:r>
          </a:p>
        </p:txBody>
      </p:sp>
      <p:pic>
        <p:nvPicPr>
          <p:cNvPr id="4" name="Graphique 3" descr="Ampoule et engrenage avec un remplissage uni">
            <a:extLst>
              <a:ext uri="{FF2B5EF4-FFF2-40B4-BE49-F238E27FC236}">
                <a16:creationId xmlns:a16="http://schemas.microsoft.com/office/drawing/2014/main" id="{6D58BE72-50D2-C34F-60B7-B6FD3F428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8528" y="1381443"/>
            <a:ext cx="540000" cy="540000"/>
          </a:xfrm>
          <a:prstGeom prst="rect">
            <a:avLst/>
          </a:prstGeom>
        </p:spPr>
      </p:pic>
      <p:pic>
        <p:nvPicPr>
          <p:cNvPr id="8" name="Graphique 7" descr="Cible avec un remplissage uni">
            <a:extLst>
              <a:ext uri="{FF2B5EF4-FFF2-40B4-BE49-F238E27FC236}">
                <a16:creationId xmlns:a16="http://schemas.microsoft.com/office/drawing/2014/main" id="{F3806BF2-9B3B-2EAC-E7F0-26980FB0B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7165"/>
            <a:ext cx="612000" cy="612000"/>
          </a:xfrm>
          <a:prstGeom prst="rect">
            <a:avLst/>
          </a:prstGeom>
        </p:spPr>
      </p:pic>
      <p:pic>
        <p:nvPicPr>
          <p:cNvPr id="20" name="Graphique 19" descr="Classe avec un remplissage uni">
            <a:extLst>
              <a:ext uri="{FF2B5EF4-FFF2-40B4-BE49-F238E27FC236}">
                <a16:creationId xmlns:a16="http://schemas.microsoft.com/office/drawing/2014/main" id="{29D24374-4F90-D052-C9F5-A6E5D9316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039" y="1363443"/>
            <a:ext cx="540000" cy="540000"/>
          </a:xfrm>
          <a:prstGeom prst="rect">
            <a:avLst/>
          </a:prstGeom>
        </p:spPr>
      </p:pic>
      <p:pic>
        <p:nvPicPr>
          <p:cNvPr id="23" name="Graphique 22" descr="Tête avec engrenages avec un remplissage uni">
            <a:extLst>
              <a:ext uri="{FF2B5EF4-FFF2-40B4-BE49-F238E27FC236}">
                <a16:creationId xmlns:a16="http://schemas.microsoft.com/office/drawing/2014/main" id="{BC06C4CD-FCD6-F486-DF42-328FE667BB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80" y="3120227"/>
            <a:ext cx="540000" cy="540000"/>
          </a:xfrm>
          <a:prstGeom prst="rect">
            <a:avLst/>
          </a:prstGeom>
        </p:spPr>
      </p:pic>
      <p:pic>
        <p:nvPicPr>
          <p:cNvPr id="25" name="Graphique 24" descr="Liste avec un remplissage uni">
            <a:extLst>
              <a:ext uri="{FF2B5EF4-FFF2-40B4-BE49-F238E27FC236}">
                <a16:creationId xmlns:a16="http://schemas.microsoft.com/office/drawing/2014/main" id="{4ACF0BB3-F6CB-C346-DF3E-278792DEB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80" y="4863832"/>
            <a:ext cx="540000" cy="540000"/>
          </a:xfrm>
          <a:prstGeom prst="rect">
            <a:avLst/>
          </a:prstGeom>
        </p:spPr>
      </p:pic>
      <p:pic>
        <p:nvPicPr>
          <p:cNvPr id="27" name="Graphique 26" descr="Questions avec un remplissage uni">
            <a:extLst>
              <a:ext uri="{FF2B5EF4-FFF2-40B4-BE49-F238E27FC236}">
                <a16:creationId xmlns:a16="http://schemas.microsoft.com/office/drawing/2014/main" id="{BFF00CCA-B786-87CD-9910-0F18C5108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80" y="1342449"/>
            <a:ext cx="540000" cy="540000"/>
          </a:xfrm>
          <a:prstGeom prst="rect">
            <a:avLst/>
          </a:prstGeom>
        </p:spPr>
      </p:pic>
      <p:pic>
        <p:nvPicPr>
          <p:cNvPr id="31" name="Graphique 30" descr="Courir avec un remplissage uni">
            <a:extLst>
              <a:ext uri="{FF2B5EF4-FFF2-40B4-BE49-F238E27FC236}">
                <a16:creationId xmlns:a16="http://schemas.microsoft.com/office/drawing/2014/main" id="{756CA644-52F9-0917-02DB-810A8ED70B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7039" y="3095923"/>
            <a:ext cx="540000" cy="540000"/>
          </a:xfrm>
          <a:prstGeom prst="rect">
            <a:avLst/>
          </a:prstGeom>
        </p:spPr>
      </p:pic>
      <p:pic>
        <p:nvPicPr>
          <p:cNvPr id="33" name="Graphique 32" descr="Avertissement avec un remplissage uni">
            <a:extLst>
              <a:ext uri="{FF2B5EF4-FFF2-40B4-BE49-F238E27FC236}">
                <a16:creationId xmlns:a16="http://schemas.microsoft.com/office/drawing/2014/main" id="{37CF0834-6818-A1CC-F825-F3290F342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4201" y="4863832"/>
            <a:ext cx="540000" cy="540000"/>
          </a:xfrm>
          <a:prstGeom prst="rect">
            <a:avLst/>
          </a:prstGeom>
        </p:spPr>
      </p:pic>
      <p:pic>
        <p:nvPicPr>
          <p:cNvPr id="35" name="Graphique 34" descr="Mille avec un remplissage uni">
            <a:extLst>
              <a:ext uri="{FF2B5EF4-FFF2-40B4-BE49-F238E27FC236}">
                <a16:creationId xmlns:a16="http://schemas.microsoft.com/office/drawing/2014/main" id="{60C824E1-965A-9133-E778-CC048B369F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629165"/>
            <a:ext cx="612000" cy="612000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CA2CD364-D2A2-12F8-6BA9-D0F6069F9749}"/>
              </a:ext>
            </a:extLst>
          </p:cNvPr>
          <p:cNvSpPr txBox="1"/>
          <p:nvPr/>
        </p:nvSpPr>
        <p:spPr>
          <a:xfrm>
            <a:off x="504092" y="629165"/>
            <a:ext cx="11687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2060"/>
                </a:solidFill>
              </a:rPr>
              <a:t>Comprendre comment bien préparer ton corps avant l’effort pour être plus performant et réduire les risques de blessure</a:t>
            </a:r>
          </a:p>
        </p:txBody>
      </p:sp>
    </p:spTree>
    <p:extLst>
      <p:ext uri="{BB962C8B-B14F-4D97-AF65-F5344CB8AC3E}">
        <p14:creationId xmlns:p14="http://schemas.microsoft.com/office/powerpoint/2010/main" val="33269501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463</Words>
  <Application>Microsoft Office PowerPoint</Application>
  <PresentationFormat>Grand écran</PresentationFormat>
  <Paragraphs>90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Mignot</dc:creator>
  <cp:lastModifiedBy>Florian Mignot</cp:lastModifiedBy>
  <cp:revision>5</cp:revision>
  <dcterms:created xsi:type="dcterms:W3CDTF">2026-07-09T07:09:16Z</dcterms:created>
  <dcterms:modified xsi:type="dcterms:W3CDTF">2026-07-09T08:37:03Z</dcterms:modified>
</cp:coreProperties>
</file>